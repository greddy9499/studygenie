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embeddedFontLst>
    <p:embeddedFont>
      <p:font typeface="Canva Sans" panose="020B0604020202020204" charset="0"/>
      <p:regular r:id="rId9"/>
    </p:embeddedFont>
    <p:embeddedFont>
      <p:font typeface="Canva Sans Bold" panose="020B0604020202020204" charset="0"/>
      <p:regular r:id="rId10"/>
    </p:embeddedFont>
    <p:embeddedFont>
      <p:font typeface="Times New Roman Bold" panose="02020803070505020304" pitchFamily="18" charset="0"/>
      <p:regular r:id="rId11"/>
      <p:bold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1" d="100"/>
          <a:sy n="41" d="100"/>
        </p:scale>
        <p:origin x="820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7C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098976" y="1028700"/>
            <a:ext cx="11301259" cy="1497417"/>
          </a:xfrm>
          <a:custGeom>
            <a:avLst/>
            <a:gdLst/>
            <a:ahLst/>
            <a:cxnLst/>
            <a:rect l="l" t="t" r="r" b="b"/>
            <a:pathLst>
              <a:path w="11301259" h="1497417">
                <a:moveTo>
                  <a:pt x="0" y="0"/>
                </a:moveTo>
                <a:lnTo>
                  <a:pt x="11301259" y="0"/>
                </a:lnTo>
                <a:lnTo>
                  <a:pt x="11301259" y="1497417"/>
                </a:lnTo>
                <a:lnTo>
                  <a:pt x="0" y="14974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720213" y="3837475"/>
            <a:ext cx="16847575" cy="5457423"/>
            <a:chOff x="0" y="0"/>
            <a:chExt cx="4437221" cy="143734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37221" cy="1437346"/>
            </a:xfrm>
            <a:custGeom>
              <a:avLst/>
              <a:gdLst/>
              <a:ahLst/>
              <a:cxnLst/>
              <a:rect l="l" t="t" r="r" b="b"/>
              <a:pathLst>
                <a:path w="4437221" h="1437346">
                  <a:moveTo>
                    <a:pt x="7812" y="0"/>
                  </a:moveTo>
                  <a:lnTo>
                    <a:pt x="4429409" y="0"/>
                  </a:lnTo>
                  <a:cubicBezTo>
                    <a:pt x="4431481" y="0"/>
                    <a:pt x="4433468" y="823"/>
                    <a:pt x="4434933" y="2288"/>
                  </a:cubicBezTo>
                  <a:cubicBezTo>
                    <a:pt x="4436398" y="3753"/>
                    <a:pt x="4437221" y="5740"/>
                    <a:pt x="4437221" y="7812"/>
                  </a:cubicBezTo>
                  <a:lnTo>
                    <a:pt x="4437221" y="1429534"/>
                  </a:lnTo>
                  <a:cubicBezTo>
                    <a:pt x="4437221" y="1433849"/>
                    <a:pt x="4433724" y="1437346"/>
                    <a:pt x="4429409" y="1437346"/>
                  </a:cubicBezTo>
                  <a:lnTo>
                    <a:pt x="7812" y="1437346"/>
                  </a:lnTo>
                  <a:cubicBezTo>
                    <a:pt x="3498" y="1437346"/>
                    <a:pt x="0" y="1433849"/>
                    <a:pt x="0" y="1429534"/>
                  </a:cubicBezTo>
                  <a:lnTo>
                    <a:pt x="0" y="7812"/>
                  </a:lnTo>
                  <a:cubicBezTo>
                    <a:pt x="0" y="3498"/>
                    <a:pt x="3498" y="0"/>
                    <a:pt x="7812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437221" cy="14754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438603" y="6480462"/>
            <a:ext cx="15410793" cy="2325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44"/>
              </a:lnSpc>
              <a:spcBef>
                <a:spcPct val="0"/>
              </a:spcBef>
            </a:pPr>
            <a:r>
              <a:rPr lang="en-US" sz="331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 : Students consume content from PDFs and videos but lack an        </a:t>
            </a:r>
          </a:p>
          <a:p>
            <a:pPr algn="l">
              <a:lnSpc>
                <a:spcPts val="4644"/>
              </a:lnSpc>
              <a:spcBef>
                <a:spcPct val="0"/>
              </a:spcBef>
            </a:pPr>
            <a:r>
              <a:rPr lang="en-US" sz="331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intelligent system that measures understanding, predicts forgetting,   </a:t>
            </a:r>
          </a:p>
          <a:p>
            <a:pPr algn="l">
              <a:lnSpc>
                <a:spcPts val="4644"/>
              </a:lnSpc>
              <a:spcBef>
                <a:spcPct val="0"/>
              </a:spcBef>
            </a:pPr>
            <a:r>
              <a:rPr lang="en-US" sz="331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and adapts learning difficulty. Existing tools generate notes but do not </a:t>
            </a:r>
          </a:p>
          <a:p>
            <a:pPr algn="l">
              <a:lnSpc>
                <a:spcPts val="4644"/>
              </a:lnSpc>
              <a:spcBef>
                <a:spcPct val="0"/>
              </a:spcBef>
            </a:pPr>
            <a:r>
              <a:rPr lang="en-US" sz="331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improve long-term retention or concept mastery.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4708240" y="4481632"/>
            <a:ext cx="8871520" cy="1323735"/>
            <a:chOff x="0" y="0"/>
            <a:chExt cx="2336532" cy="34863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336532" cy="348638"/>
            </a:xfrm>
            <a:custGeom>
              <a:avLst/>
              <a:gdLst/>
              <a:ahLst/>
              <a:cxnLst/>
              <a:rect l="l" t="t" r="r" b="b"/>
              <a:pathLst>
                <a:path w="2336532" h="348638">
                  <a:moveTo>
                    <a:pt x="14835" y="0"/>
                  </a:moveTo>
                  <a:lnTo>
                    <a:pt x="2321696" y="0"/>
                  </a:lnTo>
                  <a:cubicBezTo>
                    <a:pt x="2325631" y="0"/>
                    <a:pt x="2329405" y="1563"/>
                    <a:pt x="2332187" y="4345"/>
                  </a:cubicBezTo>
                  <a:cubicBezTo>
                    <a:pt x="2334969" y="7127"/>
                    <a:pt x="2336532" y="10901"/>
                    <a:pt x="2336532" y="14835"/>
                  </a:cubicBezTo>
                  <a:lnTo>
                    <a:pt x="2336532" y="333803"/>
                  </a:lnTo>
                  <a:cubicBezTo>
                    <a:pt x="2336532" y="337737"/>
                    <a:pt x="2334969" y="341511"/>
                    <a:pt x="2332187" y="344293"/>
                  </a:cubicBezTo>
                  <a:cubicBezTo>
                    <a:pt x="2329405" y="347075"/>
                    <a:pt x="2325631" y="348638"/>
                    <a:pt x="2321696" y="348638"/>
                  </a:cubicBezTo>
                  <a:lnTo>
                    <a:pt x="14835" y="348638"/>
                  </a:lnTo>
                  <a:cubicBezTo>
                    <a:pt x="10901" y="348638"/>
                    <a:pt x="7127" y="347075"/>
                    <a:pt x="4345" y="344293"/>
                  </a:cubicBezTo>
                  <a:cubicBezTo>
                    <a:pt x="1563" y="341511"/>
                    <a:pt x="0" y="337737"/>
                    <a:pt x="0" y="333803"/>
                  </a:cubicBezTo>
                  <a:lnTo>
                    <a:pt x="0" y="14835"/>
                  </a:lnTo>
                  <a:cubicBezTo>
                    <a:pt x="0" y="10901"/>
                    <a:pt x="1563" y="7127"/>
                    <a:pt x="4345" y="4345"/>
                  </a:cubicBezTo>
                  <a:cubicBezTo>
                    <a:pt x="7127" y="1563"/>
                    <a:pt x="10901" y="0"/>
                    <a:pt x="14835" y="0"/>
                  </a:cubicBezTo>
                  <a:close/>
                </a:path>
              </a:pathLst>
            </a:custGeom>
            <a:solidFill>
              <a:srgbClr val="B4B4B4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336532" cy="3867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6036052" y="4533900"/>
            <a:ext cx="6215896" cy="1066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Team G-MAGNUS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7C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028700"/>
            <a:ext cx="5684793" cy="946480"/>
          </a:xfrm>
          <a:custGeom>
            <a:avLst/>
            <a:gdLst/>
            <a:ahLst/>
            <a:cxnLst/>
            <a:rect l="l" t="t" r="r" b="b"/>
            <a:pathLst>
              <a:path w="5684793" h="946480">
                <a:moveTo>
                  <a:pt x="0" y="0"/>
                </a:moveTo>
                <a:lnTo>
                  <a:pt x="5684793" y="0"/>
                </a:lnTo>
                <a:lnTo>
                  <a:pt x="5684793" y="946480"/>
                </a:lnTo>
                <a:lnTo>
                  <a:pt x="0" y="9464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9879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349894" y="394395"/>
            <a:ext cx="5546845" cy="1580786"/>
          </a:xfrm>
          <a:custGeom>
            <a:avLst/>
            <a:gdLst/>
            <a:ahLst/>
            <a:cxnLst/>
            <a:rect l="l" t="t" r="r" b="b"/>
            <a:pathLst>
              <a:path w="5546845" h="1580786">
                <a:moveTo>
                  <a:pt x="0" y="0"/>
                </a:moveTo>
                <a:lnTo>
                  <a:pt x="5546845" y="0"/>
                </a:lnTo>
                <a:lnTo>
                  <a:pt x="5546845" y="1580785"/>
                </a:lnTo>
                <a:lnTo>
                  <a:pt x="0" y="15807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103742" b="-185965"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3401712" y="2864982"/>
            <a:ext cx="11484576" cy="6615197"/>
            <a:chOff x="0" y="0"/>
            <a:chExt cx="3024744" cy="174227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024744" cy="1742274"/>
            </a:xfrm>
            <a:custGeom>
              <a:avLst/>
              <a:gdLst/>
              <a:ahLst/>
              <a:cxnLst/>
              <a:rect l="l" t="t" r="r" b="b"/>
              <a:pathLst>
                <a:path w="3024744" h="1742274">
                  <a:moveTo>
                    <a:pt x="11460" y="0"/>
                  </a:moveTo>
                  <a:lnTo>
                    <a:pt x="3013284" y="0"/>
                  </a:lnTo>
                  <a:cubicBezTo>
                    <a:pt x="3016324" y="0"/>
                    <a:pt x="3019239" y="1207"/>
                    <a:pt x="3021388" y="3357"/>
                  </a:cubicBezTo>
                  <a:cubicBezTo>
                    <a:pt x="3023537" y="5506"/>
                    <a:pt x="3024744" y="8421"/>
                    <a:pt x="3024744" y="11460"/>
                  </a:cubicBezTo>
                  <a:lnTo>
                    <a:pt x="3024744" y="1730814"/>
                  </a:lnTo>
                  <a:cubicBezTo>
                    <a:pt x="3024744" y="1737144"/>
                    <a:pt x="3019614" y="1742274"/>
                    <a:pt x="3013284" y="1742274"/>
                  </a:cubicBezTo>
                  <a:lnTo>
                    <a:pt x="11460" y="1742274"/>
                  </a:lnTo>
                  <a:cubicBezTo>
                    <a:pt x="8421" y="1742274"/>
                    <a:pt x="5506" y="1741067"/>
                    <a:pt x="3357" y="1738918"/>
                  </a:cubicBezTo>
                  <a:cubicBezTo>
                    <a:pt x="1207" y="1736769"/>
                    <a:pt x="0" y="1733854"/>
                    <a:pt x="0" y="1730814"/>
                  </a:cubicBezTo>
                  <a:lnTo>
                    <a:pt x="0" y="11460"/>
                  </a:lnTo>
                  <a:cubicBezTo>
                    <a:pt x="0" y="8421"/>
                    <a:pt x="1207" y="5506"/>
                    <a:pt x="3357" y="3357"/>
                  </a:cubicBezTo>
                  <a:cubicBezTo>
                    <a:pt x="5506" y="1207"/>
                    <a:pt x="8421" y="0"/>
                    <a:pt x="11460" y="0"/>
                  </a:cubicBezTo>
                  <a:close/>
                </a:path>
              </a:pathLst>
            </a:custGeom>
            <a:solidFill>
              <a:srgbClr val="B4B4B4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3024744" cy="17803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3401712" y="3534718"/>
            <a:ext cx="11484576" cy="5945462"/>
            <a:chOff x="0" y="0"/>
            <a:chExt cx="3024744" cy="156588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024744" cy="1565883"/>
            </a:xfrm>
            <a:custGeom>
              <a:avLst/>
              <a:gdLst/>
              <a:ahLst/>
              <a:cxnLst/>
              <a:rect l="l" t="t" r="r" b="b"/>
              <a:pathLst>
                <a:path w="3024744" h="1565883">
                  <a:moveTo>
                    <a:pt x="11460" y="0"/>
                  </a:moveTo>
                  <a:lnTo>
                    <a:pt x="3013284" y="0"/>
                  </a:lnTo>
                  <a:cubicBezTo>
                    <a:pt x="3016324" y="0"/>
                    <a:pt x="3019239" y="1207"/>
                    <a:pt x="3021388" y="3357"/>
                  </a:cubicBezTo>
                  <a:cubicBezTo>
                    <a:pt x="3023537" y="5506"/>
                    <a:pt x="3024744" y="8421"/>
                    <a:pt x="3024744" y="11460"/>
                  </a:cubicBezTo>
                  <a:lnTo>
                    <a:pt x="3024744" y="1554423"/>
                  </a:lnTo>
                  <a:cubicBezTo>
                    <a:pt x="3024744" y="1557462"/>
                    <a:pt x="3023537" y="1560377"/>
                    <a:pt x="3021388" y="1562526"/>
                  </a:cubicBezTo>
                  <a:cubicBezTo>
                    <a:pt x="3019239" y="1564676"/>
                    <a:pt x="3016324" y="1565883"/>
                    <a:pt x="3013284" y="1565883"/>
                  </a:cubicBezTo>
                  <a:lnTo>
                    <a:pt x="11460" y="1565883"/>
                  </a:lnTo>
                  <a:cubicBezTo>
                    <a:pt x="8421" y="1565883"/>
                    <a:pt x="5506" y="1564676"/>
                    <a:pt x="3357" y="1562526"/>
                  </a:cubicBezTo>
                  <a:cubicBezTo>
                    <a:pt x="1207" y="1560377"/>
                    <a:pt x="0" y="1557462"/>
                    <a:pt x="0" y="1554423"/>
                  </a:cubicBezTo>
                  <a:lnTo>
                    <a:pt x="0" y="11460"/>
                  </a:lnTo>
                  <a:cubicBezTo>
                    <a:pt x="0" y="8421"/>
                    <a:pt x="1207" y="5506"/>
                    <a:pt x="3357" y="3357"/>
                  </a:cubicBezTo>
                  <a:cubicBezTo>
                    <a:pt x="5506" y="1207"/>
                    <a:pt x="8421" y="0"/>
                    <a:pt x="11460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3024744" cy="16039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3566433" y="3234746"/>
            <a:ext cx="11862591" cy="58280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39"/>
              </a:lnSpc>
            </a:pPr>
            <a:endParaRPr/>
          </a:p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StudyGenie AI is an adaptive multimodal learning system that: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• Converts PDFs and videos into structured knowledge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• Generates concept-based quizzes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• Detects weak areas at concept level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• Tracks skill progression using LevelUp AI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• Schedules revision using forgetting-curve logic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  <a:endParaRPr lang="en-US" sz="299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4199"/>
              </a:lnSpc>
              <a:spcBef>
                <a:spcPct val="0"/>
              </a:spcBef>
            </a:pPr>
            <a:endParaRPr lang="en-US" sz="299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transforms passive studying into measurable skill growth.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  <a:endParaRPr lang="en-US" sz="299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7055550" y="2888288"/>
            <a:ext cx="4176901" cy="646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20"/>
              </a:lnSpc>
              <a:spcBef>
                <a:spcPct val="0"/>
              </a:spcBef>
            </a:pPr>
            <a:r>
              <a:rPr lang="en-US" sz="38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Overview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7C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96808" y="1501940"/>
            <a:ext cx="14053946" cy="7978239"/>
            <a:chOff x="0" y="0"/>
            <a:chExt cx="3701451" cy="210126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01451" cy="2101265"/>
            </a:xfrm>
            <a:custGeom>
              <a:avLst/>
              <a:gdLst/>
              <a:ahLst/>
              <a:cxnLst/>
              <a:rect l="l" t="t" r="r" b="b"/>
              <a:pathLst>
                <a:path w="3701451" h="2101265">
                  <a:moveTo>
                    <a:pt x="9365" y="0"/>
                  </a:moveTo>
                  <a:lnTo>
                    <a:pt x="3692086" y="0"/>
                  </a:lnTo>
                  <a:cubicBezTo>
                    <a:pt x="3697258" y="0"/>
                    <a:pt x="3701451" y="4193"/>
                    <a:pt x="3701451" y="9365"/>
                  </a:cubicBezTo>
                  <a:lnTo>
                    <a:pt x="3701451" y="2091900"/>
                  </a:lnTo>
                  <a:cubicBezTo>
                    <a:pt x="3701451" y="2094383"/>
                    <a:pt x="3700464" y="2096765"/>
                    <a:pt x="3698708" y="2098522"/>
                  </a:cubicBezTo>
                  <a:cubicBezTo>
                    <a:pt x="3696952" y="2100278"/>
                    <a:pt x="3694570" y="2101265"/>
                    <a:pt x="3692086" y="2101265"/>
                  </a:cubicBezTo>
                  <a:lnTo>
                    <a:pt x="9365" y="2101265"/>
                  </a:lnTo>
                  <a:cubicBezTo>
                    <a:pt x="6881" y="2101265"/>
                    <a:pt x="4499" y="2100278"/>
                    <a:pt x="2743" y="2098522"/>
                  </a:cubicBezTo>
                  <a:cubicBezTo>
                    <a:pt x="987" y="2096765"/>
                    <a:pt x="0" y="2094383"/>
                    <a:pt x="0" y="2091900"/>
                  </a:cubicBezTo>
                  <a:lnTo>
                    <a:pt x="0" y="9365"/>
                  </a:lnTo>
                  <a:cubicBezTo>
                    <a:pt x="0" y="6881"/>
                    <a:pt x="987" y="4499"/>
                    <a:pt x="2743" y="2743"/>
                  </a:cubicBezTo>
                  <a:cubicBezTo>
                    <a:pt x="4499" y="987"/>
                    <a:pt x="6881" y="0"/>
                    <a:pt x="9365" y="0"/>
                  </a:cubicBezTo>
                  <a:close/>
                </a:path>
              </a:pathLst>
            </a:custGeom>
            <a:solidFill>
              <a:srgbClr val="B4B4B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701451" cy="21393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028700" y="555460"/>
            <a:ext cx="11301259" cy="946480"/>
          </a:xfrm>
          <a:custGeom>
            <a:avLst/>
            <a:gdLst/>
            <a:ahLst/>
            <a:cxnLst/>
            <a:rect l="l" t="t" r="r" b="b"/>
            <a:pathLst>
              <a:path w="11301259" h="946480">
                <a:moveTo>
                  <a:pt x="0" y="0"/>
                </a:moveTo>
                <a:lnTo>
                  <a:pt x="11301259" y="0"/>
                </a:lnTo>
                <a:lnTo>
                  <a:pt x="11301259" y="946480"/>
                </a:lnTo>
                <a:lnTo>
                  <a:pt x="0" y="9464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0804629" y="0"/>
            <a:ext cx="7083983" cy="756486"/>
          </a:xfrm>
          <a:custGeom>
            <a:avLst/>
            <a:gdLst/>
            <a:ahLst/>
            <a:cxnLst/>
            <a:rect l="l" t="t" r="r" b="b"/>
            <a:pathLst>
              <a:path w="7083983" h="756486">
                <a:moveTo>
                  <a:pt x="0" y="0"/>
                </a:moveTo>
                <a:lnTo>
                  <a:pt x="7083983" y="0"/>
                </a:lnTo>
                <a:lnTo>
                  <a:pt x="7083983" y="756486"/>
                </a:lnTo>
                <a:lnTo>
                  <a:pt x="0" y="7564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59532" b="-497565"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696808" y="2017916"/>
            <a:ext cx="14053946" cy="7462263"/>
            <a:chOff x="0" y="0"/>
            <a:chExt cx="3701451" cy="196537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701451" cy="1965370"/>
            </a:xfrm>
            <a:custGeom>
              <a:avLst/>
              <a:gdLst/>
              <a:ahLst/>
              <a:cxnLst/>
              <a:rect l="l" t="t" r="r" b="b"/>
              <a:pathLst>
                <a:path w="3701451" h="1965370">
                  <a:moveTo>
                    <a:pt x="9365" y="0"/>
                  </a:moveTo>
                  <a:lnTo>
                    <a:pt x="3692086" y="0"/>
                  </a:lnTo>
                  <a:cubicBezTo>
                    <a:pt x="3697258" y="0"/>
                    <a:pt x="3701451" y="4193"/>
                    <a:pt x="3701451" y="9365"/>
                  </a:cubicBezTo>
                  <a:lnTo>
                    <a:pt x="3701451" y="1956005"/>
                  </a:lnTo>
                  <a:cubicBezTo>
                    <a:pt x="3701451" y="1958489"/>
                    <a:pt x="3700464" y="1960871"/>
                    <a:pt x="3698708" y="1962627"/>
                  </a:cubicBezTo>
                  <a:cubicBezTo>
                    <a:pt x="3696952" y="1964383"/>
                    <a:pt x="3694570" y="1965370"/>
                    <a:pt x="3692086" y="1965370"/>
                  </a:cubicBezTo>
                  <a:lnTo>
                    <a:pt x="9365" y="1965370"/>
                  </a:lnTo>
                  <a:cubicBezTo>
                    <a:pt x="6881" y="1965370"/>
                    <a:pt x="4499" y="1964383"/>
                    <a:pt x="2743" y="1962627"/>
                  </a:cubicBezTo>
                  <a:cubicBezTo>
                    <a:pt x="987" y="1960871"/>
                    <a:pt x="0" y="1958489"/>
                    <a:pt x="0" y="1956005"/>
                  </a:cubicBezTo>
                  <a:lnTo>
                    <a:pt x="0" y="9365"/>
                  </a:lnTo>
                  <a:cubicBezTo>
                    <a:pt x="0" y="6881"/>
                    <a:pt x="987" y="4499"/>
                    <a:pt x="2743" y="2743"/>
                  </a:cubicBezTo>
                  <a:cubicBezTo>
                    <a:pt x="4499" y="987"/>
                    <a:pt x="6881" y="0"/>
                    <a:pt x="9365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3701451" cy="20034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481274" y="2188330"/>
            <a:ext cx="12485014" cy="7554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44"/>
              </a:lnSpc>
              <a:spcBef>
                <a:spcPct val="0"/>
              </a:spcBef>
            </a:pPr>
            <a:r>
              <a:rPr lang="en-US" sz="331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Frontend</a:t>
            </a:r>
          </a:p>
          <a:p>
            <a:pPr algn="l">
              <a:lnSpc>
                <a:spcPts val="4644"/>
              </a:lnSpc>
              <a:spcBef>
                <a:spcPct val="0"/>
              </a:spcBef>
            </a:pPr>
            <a:r>
              <a:rPr lang="en-US" sz="331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React / HTML + Dashboard UI</a:t>
            </a:r>
          </a:p>
          <a:p>
            <a:pPr algn="l">
              <a:lnSpc>
                <a:spcPts val="4644"/>
              </a:lnSpc>
              <a:spcBef>
                <a:spcPct val="0"/>
              </a:spcBef>
            </a:pPr>
            <a:r>
              <a:rPr lang="en-US" sz="331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Backend</a:t>
            </a:r>
          </a:p>
          <a:p>
            <a:pPr algn="l">
              <a:lnSpc>
                <a:spcPts val="4644"/>
              </a:lnSpc>
              <a:spcBef>
                <a:spcPct val="0"/>
              </a:spcBef>
            </a:pPr>
            <a:r>
              <a:rPr lang="en-US" sz="331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FastAPI (Python) </a:t>
            </a:r>
          </a:p>
          <a:p>
            <a:pPr algn="l">
              <a:lnSpc>
                <a:spcPts val="4644"/>
              </a:lnSpc>
              <a:spcBef>
                <a:spcPct val="0"/>
              </a:spcBef>
            </a:pPr>
            <a:r>
              <a:rPr lang="en-US" sz="331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&amp; Processing</a:t>
            </a:r>
          </a:p>
          <a:p>
            <a:pPr algn="l">
              <a:lnSpc>
                <a:spcPts val="4644"/>
              </a:lnSpc>
              <a:spcBef>
                <a:spcPct val="0"/>
              </a:spcBef>
            </a:pPr>
            <a:r>
              <a:rPr lang="en-US" sz="331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Whisper (Speech-to-Text) : Accurate transcription</a:t>
            </a:r>
          </a:p>
          <a:p>
            <a:pPr algn="l">
              <a:lnSpc>
                <a:spcPts val="4644"/>
              </a:lnSpc>
              <a:spcBef>
                <a:spcPct val="0"/>
              </a:spcBef>
            </a:pPr>
            <a:r>
              <a:rPr lang="en-US" sz="331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Google Gemini API (Content Understanding &amp; Quiz Generation)</a:t>
            </a:r>
          </a:p>
          <a:p>
            <a:pPr algn="l">
              <a:lnSpc>
                <a:spcPts val="4644"/>
              </a:lnSpc>
              <a:spcBef>
                <a:spcPct val="0"/>
              </a:spcBef>
            </a:pPr>
            <a:r>
              <a:rPr lang="en-US" sz="331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Sentence Transformers (Embeddings)</a:t>
            </a:r>
          </a:p>
          <a:p>
            <a:pPr algn="l">
              <a:lnSpc>
                <a:spcPts val="4644"/>
              </a:lnSpc>
              <a:spcBef>
                <a:spcPct val="0"/>
              </a:spcBef>
            </a:pPr>
            <a:r>
              <a:rPr lang="en-US" sz="331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FAISS (Vector Search)</a:t>
            </a:r>
          </a:p>
          <a:p>
            <a:pPr algn="l">
              <a:lnSpc>
                <a:spcPts val="4644"/>
              </a:lnSpc>
              <a:spcBef>
                <a:spcPct val="0"/>
              </a:spcBef>
            </a:pPr>
            <a:r>
              <a:rPr lang="en-US" sz="331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Database</a:t>
            </a:r>
          </a:p>
          <a:p>
            <a:pPr algn="l">
              <a:lnSpc>
                <a:spcPts val="4644"/>
              </a:lnSpc>
              <a:spcBef>
                <a:spcPct val="0"/>
              </a:spcBef>
            </a:pPr>
            <a:r>
              <a:rPr lang="en-US" sz="331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Performance Tracking Store</a:t>
            </a:r>
          </a:p>
          <a:p>
            <a:pPr algn="l">
              <a:lnSpc>
                <a:spcPts val="4644"/>
              </a:lnSpc>
              <a:spcBef>
                <a:spcPct val="0"/>
              </a:spcBef>
            </a:pPr>
            <a:r>
              <a:rPr lang="en-US" sz="331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Vector Database for Semantic Search</a:t>
            </a:r>
          </a:p>
          <a:p>
            <a:pPr algn="l">
              <a:lnSpc>
                <a:spcPts val="4644"/>
              </a:lnSpc>
              <a:spcBef>
                <a:spcPct val="0"/>
              </a:spcBef>
            </a:pPr>
            <a:endParaRPr lang="en-US" sz="3317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7C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13233" y="555460"/>
            <a:ext cx="11301259" cy="946480"/>
          </a:xfrm>
          <a:custGeom>
            <a:avLst/>
            <a:gdLst/>
            <a:ahLst/>
            <a:cxnLst/>
            <a:rect l="l" t="t" r="r" b="b"/>
            <a:pathLst>
              <a:path w="11301259" h="946480">
                <a:moveTo>
                  <a:pt x="0" y="0"/>
                </a:moveTo>
                <a:lnTo>
                  <a:pt x="11301259" y="0"/>
                </a:lnTo>
                <a:lnTo>
                  <a:pt x="11301259" y="946480"/>
                </a:lnTo>
                <a:lnTo>
                  <a:pt x="0" y="9464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217263" y="177491"/>
            <a:ext cx="9980897" cy="1702417"/>
          </a:xfrm>
          <a:custGeom>
            <a:avLst/>
            <a:gdLst/>
            <a:ahLst/>
            <a:cxnLst/>
            <a:rect l="l" t="t" r="r" b="b"/>
            <a:pathLst>
              <a:path w="9980897" h="1702417">
                <a:moveTo>
                  <a:pt x="0" y="0"/>
                </a:moveTo>
                <a:lnTo>
                  <a:pt x="9980897" y="0"/>
                </a:lnTo>
                <a:lnTo>
                  <a:pt x="9980897" y="1702418"/>
                </a:lnTo>
                <a:lnTo>
                  <a:pt x="0" y="17024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13228" b="-165534"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450209" y="3588039"/>
            <a:ext cx="5767054" cy="4618863"/>
            <a:chOff x="0" y="0"/>
            <a:chExt cx="1518895" cy="121649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518895" cy="1216491"/>
            </a:xfrm>
            <a:custGeom>
              <a:avLst/>
              <a:gdLst/>
              <a:ahLst/>
              <a:cxnLst/>
              <a:rect l="l" t="t" r="r" b="b"/>
              <a:pathLst>
                <a:path w="1518895" h="1216491">
                  <a:moveTo>
                    <a:pt x="22821" y="0"/>
                  </a:moveTo>
                  <a:lnTo>
                    <a:pt x="1496073" y="0"/>
                  </a:lnTo>
                  <a:cubicBezTo>
                    <a:pt x="1508677" y="0"/>
                    <a:pt x="1518895" y="10218"/>
                    <a:pt x="1518895" y="22821"/>
                  </a:cubicBezTo>
                  <a:lnTo>
                    <a:pt x="1518895" y="1193669"/>
                  </a:lnTo>
                  <a:cubicBezTo>
                    <a:pt x="1518895" y="1199722"/>
                    <a:pt x="1516490" y="1205526"/>
                    <a:pt x="1512211" y="1209806"/>
                  </a:cubicBezTo>
                  <a:cubicBezTo>
                    <a:pt x="1507931" y="1214086"/>
                    <a:pt x="1502126" y="1216491"/>
                    <a:pt x="1496073" y="1216491"/>
                  </a:cubicBezTo>
                  <a:lnTo>
                    <a:pt x="22821" y="1216491"/>
                  </a:lnTo>
                  <a:cubicBezTo>
                    <a:pt x="16769" y="1216491"/>
                    <a:pt x="10964" y="1214086"/>
                    <a:pt x="6684" y="1209806"/>
                  </a:cubicBezTo>
                  <a:cubicBezTo>
                    <a:pt x="2404" y="1205526"/>
                    <a:pt x="0" y="1199722"/>
                    <a:pt x="0" y="1193669"/>
                  </a:cubicBezTo>
                  <a:lnTo>
                    <a:pt x="0" y="22821"/>
                  </a:lnTo>
                  <a:cubicBezTo>
                    <a:pt x="0" y="16769"/>
                    <a:pt x="2404" y="10964"/>
                    <a:pt x="6684" y="6684"/>
                  </a:cubicBezTo>
                  <a:cubicBezTo>
                    <a:pt x="10964" y="2404"/>
                    <a:pt x="16769" y="0"/>
                    <a:pt x="22821" y="0"/>
                  </a:cubicBezTo>
                  <a:close/>
                </a:path>
              </a:pathLst>
            </a:custGeom>
            <a:solidFill>
              <a:srgbClr val="B4B4B4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518895" cy="12545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592897" y="3588039"/>
            <a:ext cx="5102205" cy="4618863"/>
            <a:chOff x="0" y="0"/>
            <a:chExt cx="1343791" cy="121649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343791" cy="1216491"/>
            </a:xfrm>
            <a:custGeom>
              <a:avLst/>
              <a:gdLst/>
              <a:ahLst/>
              <a:cxnLst/>
              <a:rect l="l" t="t" r="r" b="b"/>
              <a:pathLst>
                <a:path w="1343791" h="1216491">
                  <a:moveTo>
                    <a:pt x="25795" y="0"/>
                  </a:moveTo>
                  <a:lnTo>
                    <a:pt x="1317995" y="0"/>
                  </a:lnTo>
                  <a:cubicBezTo>
                    <a:pt x="1324837" y="0"/>
                    <a:pt x="1331398" y="2718"/>
                    <a:pt x="1336235" y="7555"/>
                  </a:cubicBezTo>
                  <a:cubicBezTo>
                    <a:pt x="1341073" y="12393"/>
                    <a:pt x="1343791" y="18954"/>
                    <a:pt x="1343791" y="25795"/>
                  </a:cubicBezTo>
                  <a:lnTo>
                    <a:pt x="1343791" y="1190695"/>
                  </a:lnTo>
                  <a:cubicBezTo>
                    <a:pt x="1343791" y="1204942"/>
                    <a:pt x="1332242" y="1216491"/>
                    <a:pt x="1317995" y="1216491"/>
                  </a:cubicBezTo>
                  <a:lnTo>
                    <a:pt x="25795" y="1216491"/>
                  </a:lnTo>
                  <a:cubicBezTo>
                    <a:pt x="11549" y="1216491"/>
                    <a:pt x="0" y="1204942"/>
                    <a:pt x="0" y="1190695"/>
                  </a:cubicBezTo>
                  <a:lnTo>
                    <a:pt x="0" y="25795"/>
                  </a:lnTo>
                  <a:cubicBezTo>
                    <a:pt x="0" y="11549"/>
                    <a:pt x="11549" y="0"/>
                    <a:pt x="25795" y="0"/>
                  </a:cubicBezTo>
                  <a:close/>
                </a:path>
              </a:pathLst>
            </a:custGeom>
            <a:solidFill>
              <a:srgbClr val="B4B4B4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343791" cy="12545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2066578" y="3588039"/>
            <a:ext cx="5144808" cy="4618863"/>
            <a:chOff x="0" y="0"/>
            <a:chExt cx="1355011" cy="121649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355011" cy="1216491"/>
            </a:xfrm>
            <a:custGeom>
              <a:avLst/>
              <a:gdLst/>
              <a:ahLst/>
              <a:cxnLst/>
              <a:rect l="l" t="t" r="r" b="b"/>
              <a:pathLst>
                <a:path w="1355011" h="1216491">
                  <a:moveTo>
                    <a:pt x="25582" y="0"/>
                  </a:moveTo>
                  <a:lnTo>
                    <a:pt x="1329430" y="0"/>
                  </a:lnTo>
                  <a:cubicBezTo>
                    <a:pt x="1343558" y="0"/>
                    <a:pt x="1355011" y="11453"/>
                    <a:pt x="1355011" y="25582"/>
                  </a:cubicBezTo>
                  <a:lnTo>
                    <a:pt x="1355011" y="1190909"/>
                  </a:lnTo>
                  <a:cubicBezTo>
                    <a:pt x="1355011" y="1205037"/>
                    <a:pt x="1343558" y="1216491"/>
                    <a:pt x="1329430" y="1216491"/>
                  </a:cubicBezTo>
                  <a:lnTo>
                    <a:pt x="25582" y="1216491"/>
                  </a:lnTo>
                  <a:cubicBezTo>
                    <a:pt x="18797" y="1216491"/>
                    <a:pt x="12290" y="1213795"/>
                    <a:pt x="7493" y="1208998"/>
                  </a:cubicBezTo>
                  <a:cubicBezTo>
                    <a:pt x="2695" y="1204200"/>
                    <a:pt x="0" y="1197694"/>
                    <a:pt x="0" y="1190909"/>
                  </a:cubicBezTo>
                  <a:lnTo>
                    <a:pt x="0" y="25582"/>
                  </a:lnTo>
                  <a:cubicBezTo>
                    <a:pt x="0" y="11453"/>
                    <a:pt x="11453" y="0"/>
                    <a:pt x="25582" y="0"/>
                  </a:cubicBezTo>
                  <a:close/>
                </a:path>
              </a:pathLst>
            </a:custGeom>
            <a:solidFill>
              <a:srgbClr val="B4B4B4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355011" cy="12545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50209" y="4416617"/>
            <a:ext cx="5771213" cy="3790284"/>
            <a:chOff x="0" y="0"/>
            <a:chExt cx="1519990" cy="99826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519990" cy="998264"/>
            </a:xfrm>
            <a:custGeom>
              <a:avLst/>
              <a:gdLst/>
              <a:ahLst/>
              <a:cxnLst/>
              <a:rect l="l" t="t" r="r" b="b"/>
              <a:pathLst>
                <a:path w="1519990" h="998264">
                  <a:moveTo>
                    <a:pt x="22805" y="0"/>
                  </a:moveTo>
                  <a:lnTo>
                    <a:pt x="1497185" y="0"/>
                  </a:lnTo>
                  <a:cubicBezTo>
                    <a:pt x="1503234" y="0"/>
                    <a:pt x="1509034" y="2403"/>
                    <a:pt x="1513311" y="6679"/>
                  </a:cubicBezTo>
                  <a:cubicBezTo>
                    <a:pt x="1517588" y="10956"/>
                    <a:pt x="1519990" y="16757"/>
                    <a:pt x="1519990" y="22805"/>
                  </a:cubicBezTo>
                  <a:lnTo>
                    <a:pt x="1519990" y="975459"/>
                  </a:lnTo>
                  <a:cubicBezTo>
                    <a:pt x="1519990" y="981507"/>
                    <a:pt x="1517588" y="987308"/>
                    <a:pt x="1513311" y="991585"/>
                  </a:cubicBezTo>
                  <a:cubicBezTo>
                    <a:pt x="1509034" y="995861"/>
                    <a:pt x="1503234" y="998264"/>
                    <a:pt x="1497185" y="998264"/>
                  </a:cubicBezTo>
                  <a:lnTo>
                    <a:pt x="22805" y="998264"/>
                  </a:lnTo>
                  <a:cubicBezTo>
                    <a:pt x="10210" y="998264"/>
                    <a:pt x="0" y="988054"/>
                    <a:pt x="0" y="975459"/>
                  </a:cubicBezTo>
                  <a:lnTo>
                    <a:pt x="0" y="22805"/>
                  </a:lnTo>
                  <a:cubicBezTo>
                    <a:pt x="0" y="16757"/>
                    <a:pt x="2403" y="10956"/>
                    <a:pt x="6679" y="6679"/>
                  </a:cubicBezTo>
                  <a:cubicBezTo>
                    <a:pt x="10956" y="2403"/>
                    <a:pt x="16757" y="0"/>
                    <a:pt x="22805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1519990" cy="10363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028700" y="3552246"/>
            <a:ext cx="4518303" cy="675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20"/>
              </a:lnSpc>
              <a:spcBef>
                <a:spcPct val="0"/>
              </a:spcBef>
            </a:pPr>
            <a:r>
              <a:rPr lang="en-US" sz="38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Backend Components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63221" y="5043938"/>
            <a:ext cx="5454041" cy="2814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File upload APIs</a:t>
            </a: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• PDF text extraction module</a:t>
            </a:r>
          </a:p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• YouTube transcript fetching</a:t>
            </a:r>
          </a:p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• Quiz generation API</a:t>
            </a:r>
          </a:p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• XP calculation logic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977246" y="3552246"/>
            <a:ext cx="3659088" cy="675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20"/>
              </a:lnSpc>
              <a:spcBef>
                <a:spcPct val="0"/>
              </a:spcBef>
            </a:pPr>
            <a:r>
              <a:rPr lang="en-US" sz="38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Intelligence Logic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6592897" y="4416617"/>
            <a:ext cx="5102205" cy="3790284"/>
            <a:chOff x="0" y="0"/>
            <a:chExt cx="1343791" cy="998264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343791" cy="998264"/>
            </a:xfrm>
            <a:custGeom>
              <a:avLst/>
              <a:gdLst/>
              <a:ahLst/>
              <a:cxnLst/>
              <a:rect l="l" t="t" r="r" b="b"/>
              <a:pathLst>
                <a:path w="1343791" h="998264">
                  <a:moveTo>
                    <a:pt x="25795" y="0"/>
                  </a:moveTo>
                  <a:lnTo>
                    <a:pt x="1317995" y="0"/>
                  </a:lnTo>
                  <a:cubicBezTo>
                    <a:pt x="1324837" y="0"/>
                    <a:pt x="1331398" y="2718"/>
                    <a:pt x="1336235" y="7555"/>
                  </a:cubicBezTo>
                  <a:cubicBezTo>
                    <a:pt x="1341073" y="12393"/>
                    <a:pt x="1343791" y="18954"/>
                    <a:pt x="1343791" y="25795"/>
                  </a:cubicBezTo>
                  <a:lnTo>
                    <a:pt x="1343791" y="972469"/>
                  </a:lnTo>
                  <a:cubicBezTo>
                    <a:pt x="1343791" y="986715"/>
                    <a:pt x="1332242" y="998264"/>
                    <a:pt x="1317995" y="998264"/>
                  </a:cubicBezTo>
                  <a:lnTo>
                    <a:pt x="25795" y="998264"/>
                  </a:lnTo>
                  <a:cubicBezTo>
                    <a:pt x="11549" y="998264"/>
                    <a:pt x="0" y="986715"/>
                    <a:pt x="0" y="972469"/>
                  </a:cubicBezTo>
                  <a:lnTo>
                    <a:pt x="0" y="25795"/>
                  </a:lnTo>
                  <a:cubicBezTo>
                    <a:pt x="0" y="11549"/>
                    <a:pt x="11549" y="0"/>
                    <a:pt x="25795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1343791" cy="10363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6759007" y="4774820"/>
            <a:ext cx="4936096" cy="3432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55"/>
              </a:lnSpc>
              <a:spcBef>
                <a:spcPct val="0"/>
              </a:spcBef>
            </a:pPr>
            <a:r>
              <a:rPr lang="en-US" sz="325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Content chunking</a:t>
            </a:r>
          </a:p>
          <a:p>
            <a:pPr algn="l">
              <a:lnSpc>
                <a:spcPts val="4555"/>
              </a:lnSpc>
              <a:spcBef>
                <a:spcPct val="0"/>
              </a:spcBef>
            </a:pPr>
            <a:r>
              <a:rPr lang="en-US" sz="325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• Semantic embedding storage</a:t>
            </a:r>
          </a:p>
          <a:p>
            <a:pPr algn="l">
              <a:lnSpc>
                <a:spcPts val="4555"/>
              </a:lnSpc>
              <a:spcBef>
                <a:spcPct val="0"/>
              </a:spcBef>
            </a:pPr>
            <a:r>
              <a:rPr lang="en-US" sz="325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• Adaptive difficulty rules</a:t>
            </a:r>
          </a:p>
          <a:p>
            <a:pPr algn="l">
              <a:lnSpc>
                <a:spcPts val="4555"/>
              </a:lnSpc>
              <a:spcBef>
                <a:spcPct val="0"/>
              </a:spcBef>
            </a:pPr>
            <a:r>
              <a:rPr lang="en-US" sz="325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• Forgetting-curve simulation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652847" y="3552246"/>
            <a:ext cx="1972270" cy="691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9"/>
              </a:lnSpc>
              <a:spcBef>
                <a:spcPct val="0"/>
              </a:spcBef>
            </a:pPr>
            <a:r>
              <a:rPr lang="en-US" sz="39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Frontend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2109181" y="4416068"/>
            <a:ext cx="5102205" cy="3790284"/>
            <a:chOff x="0" y="0"/>
            <a:chExt cx="1343791" cy="998264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343791" cy="998264"/>
            </a:xfrm>
            <a:custGeom>
              <a:avLst/>
              <a:gdLst/>
              <a:ahLst/>
              <a:cxnLst/>
              <a:rect l="l" t="t" r="r" b="b"/>
              <a:pathLst>
                <a:path w="1343791" h="998264">
                  <a:moveTo>
                    <a:pt x="25795" y="0"/>
                  </a:moveTo>
                  <a:lnTo>
                    <a:pt x="1317995" y="0"/>
                  </a:lnTo>
                  <a:cubicBezTo>
                    <a:pt x="1324837" y="0"/>
                    <a:pt x="1331398" y="2718"/>
                    <a:pt x="1336235" y="7555"/>
                  </a:cubicBezTo>
                  <a:cubicBezTo>
                    <a:pt x="1341073" y="12393"/>
                    <a:pt x="1343791" y="18954"/>
                    <a:pt x="1343791" y="25795"/>
                  </a:cubicBezTo>
                  <a:lnTo>
                    <a:pt x="1343791" y="972469"/>
                  </a:lnTo>
                  <a:cubicBezTo>
                    <a:pt x="1343791" y="986715"/>
                    <a:pt x="1332242" y="998264"/>
                    <a:pt x="1317995" y="998264"/>
                  </a:cubicBezTo>
                  <a:lnTo>
                    <a:pt x="25795" y="998264"/>
                  </a:lnTo>
                  <a:cubicBezTo>
                    <a:pt x="11549" y="998264"/>
                    <a:pt x="0" y="986715"/>
                    <a:pt x="0" y="972469"/>
                  </a:cubicBezTo>
                  <a:lnTo>
                    <a:pt x="0" y="25795"/>
                  </a:lnTo>
                  <a:cubicBezTo>
                    <a:pt x="0" y="11549"/>
                    <a:pt x="11549" y="0"/>
                    <a:pt x="25795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1343791" cy="10363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2485734" y="4960283"/>
            <a:ext cx="4773566" cy="2897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94"/>
              </a:lnSpc>
              <a:spcBef>
                <a:spcPct val="0"/>
              </a:spcBef>
            </a:pPr>
            <a:r>
              <a:rPr lang="en-US" sz="328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Upload interface</a:t>
            </a:r>
          </a:p>
          <a:p>
            <a:pPr algn="l">
              <a:lnSpc>
                <a:spcPts val="4594"/>
              </a:lnSpc>
              <a:spcBef>
                <a:spcPct val="0"/>
              </a:spcBef>
            </a:pPr>
            <a:r>
              <a:rPr lang="en-US" sz="328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• Quiz UI</a:t>
            </a:r>
          </a:p>
          <a:p>
            <a:pPr algn="l">
              <a:lnSpc>
                <a:spcPts val="4594"/>
              </a:lnSpc>
              <a:spcBef>
                <a:spcPct val="0"/>
              </a:spcBef>
            </a:pPr>
            <a:r>
              <a:rPr lang="en-US" sz="328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• Progress dashboard</a:t>
            </a:r>
          </a:p>
          <a:p>
            <a:pPr algn="l">
              <a:lnSpc>
                <a:spcPts val="4594"/>
              </a:lnSpc>
              <a:spcBef>
                <a:spcPct val="0"/>
              </a:spcBef>
            </a:pPr>
            <a:r>
              <a:rPr lang="en-US" sz="328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• Concept mastery visualization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7C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218498" y="457123"/>
            <a:ext cx="9313212" cy="9372754"/>
          </a:xfrm>
          <a:custGeom>
            <a:avLst/>
            <a:gdLst/>
            <a:ahLst/>
            <a:cxnLst/>
            <a:rect l="l" t="t" r="r" b="b"/>
            <a:pathLst>
              <a:path w="9313212" h="9372754">
                <a:moveTo>
                  <a:pt x="0" y="0"/>
                </a:moveTo>
                <a:lnTo>
                  <a:pt x="9313212" y="0"/>
                </a:lnTo>
                <a:lnTo>
                  <a:pt x="9313212" y="9372754"/>
                </a:lnTo>
                <a:lnTo>
                  <a:pt x="0" y="93727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4213" r="-26839"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7C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43970" y="563876"/>
            <a:ext cx="11301259" cy="946480"/>
          </a:xfrm>
          <a:custGeom>
            <a:avLst/>
            <a:gdLst/>
            <a:ahLst/>
            <a:cxnLst/>
            <a:rect l="l" t="t" r="r" b="b"/>
            <a:pathLst>
              <a:path w="11301259" h="946480">
                <a:moveTo>
                  <a:pt x="0" y="0"/>
                </a:moveTo>
                <a:lnTo>
                  <a:pt x="11301259" y="0"/>
                </a:lnTo>
                <a:lnTo>
                  <a:pt x="11301259" y="946480"/>
                </a:lnTo>
                <a:lnTo>
                  <a:pt x="0" y="9464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367823" y="175779"/>
            <a:ext cx="8187569" cy="776193"/>
          </a:xfrm>
          <a:custGeom>
            <a:avLst/>
            <a:gdLst/>
            <a:ahLst/>
            <a:cxnLst/>
            <a:rect l="l" t="t" r="r" b="b"/>
            <a:pathLst>
              <a:path w="8187569" h="776193">
                <a:moveTo>
                  <a:pt x="0" y="0"/>
                </a:moveTo>
                <a:lnTo>
                  <a:pt x="8187569" y="0"/>
                </a:lnTo>
                <a:lnTo>
                  <a:pt x="8187569" y="776193"/>
                </a:lnTo>
                <a:lnTo>
                  <a:pt x="0" y="7761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61" r="-38751" b="-485179"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696808" y="2793803"/>
            <a:ext cx="6092185" cy="6178817"/>
            <a:chOff x="0" y="0"/>
            <a:chExt cx="1604526" cy="162734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604526" cy="1627343"/>
            </a:xfrm>
            <a:custGeom>
              <a:avLst/>
              <a:gdLst/>
              <a:ahLst/>
              <a:cxnLst/>
              <a:rect l="l" t="t" r="r" b="b"/>
              <a:pathLst>
                <a:path w="1604526" h="1627343">
                  <a:moveTo>
                    <a:pt x="21604" y="0"/>
                  </a:moveTo>
                  <a:lnTo>
                    <a:pt x="1582923" y="0"/>
                  </a:lnTo>
                  <a:cubicBezTo>
                    <a:pt x="1588652" y="0"/>
                    <a:pt x="1594147" y="2276"/>
                    <a:pt x="1598199" y="6328"/>
                  </a:cubicBezTo>
                  <a:cubicBezTo>
                    <a:pt x="1602250" y="10379"/>
                    <a:pt x="1604526" y="15874"/>
                    <a:pt x="1604526" y="21604"/>
                  </a:cubicBezTo>
                  <a:lnTo>
                    <a:pt x="1604526" y="1605739"/>
                  </a:lnTo>
                  <a:cubicBezTo>
                    <a:pt x="1604526" y="1617671"/>
                    <a:pt x="1594854" y="1627343"/>
                    <a:pt x="1582923" y="1627343"/>
                  </a:cubicBezTo>
                  <a:lnTo>
                    <a:pt x="21604" y="1627343"/>
                  </a:lnTo>
                  <a:cubicBezTo>
                    <a:pt x="9672" y="1627343"/>
                    <a:pt x="0" y="1617671"/>
                    <a:pt x="0" y="1605739"/>
                  </a:cubicBezTo>
                  <a:lnTo>
                    <a:pt x="0" y="21604"/>
                  </a:lnTo>
                  <a:cubicBezTo>
                    <a:pt x="0" y="9672"/>
                    <a:pt x="9672" y="0"/>
                    <a:pt x="21604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604526" cy="16654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43970" y="2793803"/>
            <a:ext cx="6045024" cy="830742"/>
            <a:chOff x="0" y="0"/>
            <a:chExt cx="1592105" cy="21879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592105" cy="218796"/>
            </a:xfrm>
            <a:custGeom>
              <a:avLst/>
              <a:gdLst/>
              <a:ahLst/>
              <a:cxnLst/>
              <a:rect l="l" t="t" r="r" b="b"/>
              <a:pathLst>
                <a:path w="1592105" h="218796">
                  <a:moveTo>
                    <a:pt x="21772" y="0"/>
                  </a:moveTo>
                  <a:lnTo>
                    <a:pt x="1570333" y="0"/>
                  </a:lnTo>
                  <a:cubicBezTo>
                    <a:pt x="1576107" y="0"/>
                    <a:pt x="1581645" y="2294"/>
                    <a:pt x="1585728" y="6377"/>
                  </a:cubicBezTo>
                  <a:cubicBezTo>
                    <a:pt x="1589811" y="10460"/>
                    <a:pt x="1592105" y="15998"/>
                    <a:pt x="1592105" y="21772"/>
                  </a:cubicBezTo>
                  <a:lnTo>
                    <a:pt x="1592105" y="197024"/>
                  </a:lnTo>
                  <a:cubicBezTo>
                    <a:pt x="1592105" y="202798"/>
                    <a:pt x="1589811" y="208336"/>
                    <a:pt x="1585728" y="212419"/>
                  </a:cubicBezTo>
                  <a:cubicBezTo>
                    <a:pt x="1581645" y="216502"/>
                    <a:pt x="1576107" y="218796"/>
                    <a:pt x="1570333" y="218796"/>
                  </a:cubicBezTo>
                  <a:lnTo>
                    <a:pt x="21772" y="218796"/>
                  </a:lnTo>
                  <a:cubicBezTo>
                    <a:pt x="15998" y="218796"/>
                    <a:pt x="10460" y="216502"/>
                    <a:pt x="6377" y="212419"/>
                  </a:cubicBezTo>
                  <a:cubicBezTo>
                    <a:pt x="2294" y="208336"/>
                    <a:pt x="0" y="202798"/>
                    <a:pt x="0" y="197024"/>
                  </a:cubicBezTo>
                  <a:lnTo>
                    <a:pt x="0" y="21772"/>
                  </a:lnTo>
                  <a:cubicBezTo>
                    <a:pt x="0" y="15998"/>
                    <a:pt x="2294" y="10460"/>
                    <a:pt x="6377" y="6377"/>
                  </a:cubicBezTo>
                  <a:cubicBezTo>
                    <a:pt x="10460" y="2294"/>
                    <a:pt x="15998" y="0"/>
                    <a:pt x="21772" y="0"/>
                  </a:cubicBezTo>
                  <a:close/>
                </a:path>
              </a:pathLst>
            </a:custGeom>
            <a:solidFill>
              <a:srgbClr val="B4B4B4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592105" cy="2568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644192" y="2793803"/>
            <a:ext cx="7519349" cy="6178817"/>
            <a:chOff x="0" y="0"/>
            <a:chExt cx="1980405" cy="162734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980405" cy="1627343"/>
            </a:xfrm>
            <a:custGeom>
              <a:avLst/>
              <a:gdLst/>
              <a:ahLst/>
              <a:cxnLst/>
              <a:rect l="l" t="t" r="r" b="b"/>
              <a:pathLst>
                <a:path w="1980405" h="1627343">
                  <a:moveTo>
                    <a:pt x="17503" y="0"/>
                  </a:moveTo>
                  <a:lnTo>
                    <a:pt x="1962902" y="0"/>
                  </a:lnTo>
                  <a:cubicBezTo>
                    <a:pt x="1967544" y="0"/>
                    <a:pt x="1971996" y="1844"/>
                    <a:pt x="1975278" y="5127"/>
                  </a:cubicBezTo>
                  <a:cubicBezTo>
                    <a:pt x="1978561" y="8409"/>
                    <a:pt x="1980405" y="12861"/>
                    <a:pt x="1980405" y="17503"/>
                  </a:cubicBezTo>
                  <a:lnTo>
                    <a:pt x="1980405" y="1609840"/>
                  </a:lnTo>
                  <a:cubicBezTo>
                    <a:pt x="1980405" y="1614482"/>
                    <a:pt x="1978561" y="1618934"/>
                    <a:pt x="1975278" y="1622216"/>
                  </a:cubicBezTo>
                  <a:cubicBezTo>
                    <a:pt x="1971996" y="1625499"/>
                    <a:pt x="1967544" y="1627343"/>
                    <a:pt x="1962902" y="1627343"/>
                  </a:cubicBezTo>
                  <a:lnTo>
                    <a:pt x="17503" y="1627343"/>
                  </a:lnTo>
                  <a:cubicBezTo>
                    <a:pt x="12861" y="1627343"/>
                    <a:pt x="8409" y="1625499"/>
                    <a:pt x="5127" y="1622216"/>
                  </a:cubicBezTo>
                  <a:cubicBezTo>
                    <a:pt x="1844" y="1618934"/>
                    <a:pt x="0" y="1614482"/>
                    <a:pt x="0" y="1609840"/>
                  </a:cubicBezTo>
                  <a:lnTo>
                    <a:pt x="0" y="17503"/>
                  </a:lnTo>
                  <a:cubicBezTo>
                    <a:pt x="0" y="12861"/>
                    <a:pt x="1844" y="8409"/>
                    <a:pt x="5127" y="5127"/>
                  </a:cubicBezTo>
                  <a:cubicBezTo>
                    <a:pt x="8409" y="1844"/>
                    <a:pt x="12861" y="0"/>
                    <a:pt x="17503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980405" cy="16654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43970" y="5743415"/>
            <a:ext cx="6045024" cy="830742"/>
            <a:chOff x="0" y="0"/>
            <a:chExt cx="1592105" cy="21879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592105" cy="218796"/>
            </a:xfrm>
            <a:custGeom>
              <a:avLst/>
              <a:gdLst/>
              <a:ahLst/>
              <a:cxnLst/>
              <a:rect l="l" t="t" r="r" b="b"/>
              <a:pathLst>
                <a:path w="1592105" h="218796">
                  <a:moveTo>
                    <a:pt x="21772" y="0"/>
                  </a:moveTo>
                  <a:lnTo>
                    <a:pt x="1570333" y="0"/>
                  </a:lnTo>
                  <a:cubicBezTo>
                    <a:pt x="1576107" y="0"/>
                    <a:pt x="1581645" y="2294"/>
                    <a:pt x="1585728" y="6377"/>
                  </a:cubicBezTo>
                  <a:cubicBezTo>
                    <a:pt x="1589811" y="10460"/>
                    <a:pt x="1592105" y="15998"/>
                    <a:pt x="1592105" y="21772"/>
                  </a:cubicBezTo>
                  <a:lnTo>
                    <a:pt x="1592105" y="197024"/>
                  </a:lnTo>
                  <a:cubicBezTo>
                    <a:pt x="1592105" y="202798"/>
                    <a:pt x="1589811" y="208336"/>
                    <a:pt x="1585728" y="212419"/>
                  </a:cubicBezTo>
                  <a:cubicBezTo>
                    <a:pt x="1581645" y="216502"/>
                    <a:pt x="1576107" y="218796"/>
                    <a:pt x="1570333" y="218796"/>
                  </a:cubicBezTo>
                  <a:lnTo>
                    <a:pt x="21772" y="218796"/>
                  </a:lnTo>
                  <a:cubicBezTo>
                    <a:pt x="15998" y="218796"/>
                    <a:pt x="10460" y="216502"/>
                    <a:pt x="6377" y="212419"/>
                  </a:cubicBezTo>
                  <a:cubicBezTo>
                    <a:pt x="2294" y="208336"/>
                    <a:pt x="0" y="202798"/>
                    <a:pt x="0" y="197024"/>
                  </a:cubicBezTo>
                  <a:lnTo>
                    <a:pt x="0" y="21772"/>
                  </a:lnTo>
                  <a:cubicBezTo>
                    <a:pt x="0" y="15998"/>
                    <a:pt x="2294" y="10460"/>
                    <a:pt x="6377" y="6377"/>
                  </a:cubicBezTo>
                  <a:cubicBezTo>
                    <a:pt x="10460" y="2294"/>
                    <a:pt x="15998" y="0"/>
                    <a:pt x="21772" y="0"/>
                  </a:cubicBezTo>
                  <a:close/>
                </a:path>
              </a:pathLst>
            </a:custGeom>
            <a:solidFill>
              <a:srgbClr val="B4B4B4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1592105" cy="2568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2599167" y="9031481"/>
            <a:ext cx="11698015" cy="1093672"/>
            <a:chOff x="0" y="0"/>
            <a:chExt cx="3080959" cy="288045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080959" cy="288045"/>
            </a:xfrm>
            <a:custGeom>
              <a:avLst/>
              <a:gdLst/>
              <a:ahLst/>
              <a:cxnLst/>
              <a:rect l="l" t="t" r="r" b="b"/>
              <a:pathLst>
                <a:path w="3080959" h="288045">
                  <a:moveTo>
                    <a:pt x="11251" y="0"/>
                  </a:moveTo>
                  <a:lnTo>
                    <a:pt x="3069708" y="0"/>
                  </a:lnTo>
                  <a:cubicBezTo>
                    <a:pt x="3072692" y="0"/>
                    <a:pt x="3075553" y="1185"/>
                    <a:pt x="3077663" y="3295"/>
                  </a:cubicBezTo>
                  <a:cubicBezTo>
                    <a:pt x="3079773" y="5405"/>
                    <a:pt x="3080959" y="8267"/>
                    <a:pt x="3080959" y="11251"/>
                  </a:cubicBezTo>
                  <a:lnTo>
                    <a:pt x="3080959" y="276794"/>
                  </a:lnTo>
                  <a:cubicBezTo>
                    <a:pt x="3080959" y="283008"/>
                    <a:pt x="3075922" y="288045"/>
                    <a:pt x="3069708" y="288045"/>
                  </a:cubicBezTo>
                  <a:lnTo>
                    <a:pt x="11251" y="288045"/>
                  </a:lnTo>
                  <a:cubicBezTo>
                    <a:pt x="5037" y="288045"/>
                    <a:pt x="0" y="283008"/>
                    <a:pt x="0" y="276794"/>
                  </a:cubicBezTo>
                  <a:lnTo>
                    <a:pt x="0" y="11251"/>
                  </a:lnTo>
                  <a:cubicBezTo>
                    <a:pt x="0" y="5037"/>
                    <a:pt x="5037" y="0"/>
                    <a:pt x="11251" y="0"/>
                  </a:cubicBezTo>
                  <a:close/>
                </a:path>
              </a:pathLst>
            </a:custGeom>
            <a:solidFill>
              <a:srgbClr val="B4B4B4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3080959" cy="3261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390560" y="1927028"/>
            <a:ext cx="7753440" cy="76613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44"/>
              </a:lnSpc>
            </a:pPr>
            <a:r>
              <a:rPr lang="en-US" sz="3475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Architecture Overview – StudyGenie AI</a:t>
            </a:r>
          </a:p>
          <a:p>
            <a:pPr algn="l">
              <a:lnSpc>
                <a:spcPts val="3544"/>
              </a:lnSpc>
            </a:pPr>
            <a:endParaRPr lang="en-US" sz="3475" b="1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algn="l">
              <a:lnSpc>
                <a:spcPts val="3544"/>
              </a:lnSpc>
            </a:pPr>
            <a:r>
              <a:rPr lang="en-US" sz="3475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 User Layer</a:t>
            </a:r>
          </a:p>
          <a:p>
            <a:pPr algn="l">
              <a:lnSpc>
                <a:spcPts val="3544"/>
              </a:lnSpc>
            </a:pPr>
            <a:endParaRPr lang="en-US" sz="3475" b="1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algn="l">
              <a:lnSpc>
                <a:spcPts val="3544"/>
              </a:lnSpc>
            </a:pPr>
            <a:r>
              <a:rPr lang="en-US" sz="347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PDF &amp; Video Upload</a:t>
            </a:r>
          </a:p>
          <a:p>
            <a:pPr algn="l">
              <a:lnSpc>
                <a:spcPts val="3544"/>
              </a:lnSpc>
            </a:pPr>
            <a:r>
              <a:rPr lang="en-US" sz="347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Quiz Interface</a:t>
            </a:r>
          </a:p>
          <a:p>
            <a:pPr algn="l">
              <a:lnSpc>
                <a:spcPts val="3544"/>
              </a:lnSpc>
            </a:pPr>
            <a:r>
              <a:rPr lang="en-US" sz="347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Progress Dashboard</a:t>
            </a:r>
          </a:p>
          <a:p>
            <a:pPr algn="l">
              <a:lnSpc>
                <a:spcPts val="3544"/>
              </a:lnSpc>
            </a:pPr>
            <a:r>
              <a:rPr lang="en-US" sz="347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Concept Mastery View</a:t>
            </a:r>
          </a:p>
          <a:p>
            <a:pPr algn="l">
              <a:lnSpc>
                <a:spcPts val="3544"/>
              </a:lnSpc>
            </a:pPr>
            <a:endParaRPr lang="en-US" sz="3475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3544"/>
              </a:lnSpc>
            </a:pPr>
            <a:r>
              <a:rPr lang="en-US" sz="3475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 Processing Layer</a:t>
            </a:r>
          </a:p>
          <a:p>
            <a:pPr algn="l">
              <a:lnSpc>
                <a:spcPts val="3544"/>
              </a:lnSpc>
            </a:pPr>
            <a:endParaRPr lang="en-US" sz="3475" b="1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algn="l">
              <a:lnSpc>
                <a:spcPts val="3544"/>
              </a:lnSpc>
            </a:pPr>
            <a:r>
              <a:rPr lang="en-US" sz="347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PDF Text Extraction</a:t>
            </a:r>
          </a:p>
          <a:p>
            <a:pPr algn="l">
              <a:lnSpc>
                <a:spcPts val="3544"/>
              </a:lnSpc>
            </a:pPr>
            <a:r>
              <a:rPr lang="en-US" sz="347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Video Speech-to-Text</a:t>
            </a:r>
          </a:p>
          <a:p>
            <a:pPr algn="l">
              <a:lnSpc>
                <a:spcPts val="3544"/>
              </a:lnSpc>
            </a:pPr>
            <a:r>
              <a:rPr lang="en-US" sz="347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Content Chunking</a:t>
            </a:r>
          </a:p>
          <a:p>
            <a:pPr algn="l">
              <a:lnSpc>
                <a:spcPts val="3544"/>
              </a:lnSpc>
            </a:pPr>
            <a:r>
              <a:rPr lang="en-US" sz="347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Semantic Structuring</a:t>
            </a:r>
          </a:p>
          <a:p>
            <a:pPr algn="l">
              <a:lnSpc>
                <a:spcPts val="3544"/>
              </a:lnSpc>
            </a:pPr>
            <a:endParaRPr lang="en-US" sz="3475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3544"/>
              </a:lnSpc>
            </a:pPr>
            <a:endParaRPr lang="en-US" sz="3475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0" name="Group 20"/>
          <p:cNvGrpSpPr/>
          <p:nvPr/>
        </p:nvGrpSpPr>
        <p:grpSpPr>
          <a:xfrm>
            <a:off x="8644192" y="5883211"/>
            <a:ext cx="7519349" cy="767890"/>
            <a:chOff x="0" y="0"/>
            <a:chExt cx="1980405" cy="202243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980405" cy="202243"/>
            </a:xfrm>
            <a:custGeom>
              <a:avLst/>
              <a:gdLst/>
              <a:ahLst/>
              <a:cxnLst/>
              <a:rect l="l" t="t" r="r" b="b"/>
              <a:pathLst>
                <a:path w="1980405" h="202243">
                  <a:moveTo>
                    <a:pt x="17503" y="0"/>
                  </a:moveTo>
                  <a:lnTo>
                    <a:pt x="1962902" y="0"/>
                  </a:lnTo>
                  <a:cubicBezTo>
                    <a:pt x="1967544" y="0"/>
                    <a:pt x="1971996" y="1844"/>
                    <a:pt x="1975278" y="5127"/>
                  </a:cubicBezTo>
                  <a:cubicBezTo>
                    <a:pt x="1978561" y="8409"/>
                    <a:pt x="1980405" y="12861"/>
                    <a:pt x="1980405" y="17503"/>
                  </a:cubicBezTo>
                  <a:lnTo>
                    <a:pt x="1980405" y="184740"/>
                  </a:lnTo>
                  <a:cubicBezTo>
                    <a:pt x="1980405" y="189382"/>
                    <a:pt x="1978561" y="193834"/>
                    <a:pt x="1975278" y="197116"/>
                  </a:cubicBezTo>
                  <a:cubicBezTo>
                    <a:pt x="1971996" y="200399"/>
                    <a:pt x="1967544" y="202243"/>
                    <a:pt x="1962902" y="202243"/>
                  </a:cubicBezTo>
                  <a:lnTo>
                    <a:pt x="17503" y="202243"/>
                  </a:lnTo>
                  <a:cubicBezTo>
                    <a:pt x="12861" y="202243"/>
                    <a:pt x="8409" y="200399"/>
                    <a:pt x="5127" y="197116"/>
                  </a:cubicBezTo>
                  <a:cubicBezTo>
                    <a:pt x="1844" y="193834"/>
                    <a:pt x="0" y="189382"/>
                    <a:pt x="0" y="184740"/>
                  </a:cubicBezTo>
                  <a:lnTo>
                    <a:pt x="0" y="17503"/>
                  </a:lnTo>
                  <a:cubicBezTo>
                    <a:pt x="0" y="12861"/>
                    <a:pt x="1844" y="8409"/>
                    <a:pt x="5127" y="5127"/>
                  </a:cubicBezTo>
                  <a:cubicBezTo>
                    <a:pt x="8409" y="1844"/>
                    <a:pt x="12861" y="0"/>
                    <a:pt x="17503" y="0"/>
                  </a:cubicBezTo>
                  <a:close/>
                </a:path>
              </a:pathLst>
            </a:custGeom>
            <a:solidFill>
              <a:srgbClr val="B4B4B4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1980405" cy="2403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8644192" y="2793803"/>
            <a:ext cx="7519349" cy="708158"/>
            <a:chOff x="0" y="0"/>
            <a:chExt cx="1980405" cy="186511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980405" cy="186511"/>
            </a:xfrm>
            <a:custGeom>
              <a:avLst/>
              <a:gdLst/>
              <a:ahLst/>
              <a:cxnLst/>
              <a:rect l="l" t="t" r="r" b="b"/>
              <a:pathLst>
                <a:path w="1980405" h="186511">
                  <a:moveTo>
                    <a:pt x="17503" y="0"/>
                  </a:moveTo>
                  <a:lnTo>
                    <a:pt x="1962902" y="0"/>
                  </a:lnTo>
                  <a:cubicBezTo>
                    <a:pt x="1967544" y="0"/>
                    <a:pt x="1971996" y="1844"/>
                    <a:pt x="1975278" y="5127"/>
                  </a:cubicBezTo>
                  <a:cubicBezTo>
                    <a:pt x="1978561" y="8409"/>
                    <a:pt x="1980405" y="12861"/>
                    <a:pt x="1980405" y="17503"/>
                  </a:cubicBezTo>
                  <a:lnTo>
                    <a:pt x="1980405" y="169008"/>
                  </a:lnTo>
                  <a:cubicBezTo>
                    <a:pt x="1980405" y="173650"/>
                    <a:pt x="1978561" y="178102"/>
                    <a:pt x="1975278" y="181384"/>
                  </a:cubicBezTo>
                  <a:cubicBezTo>
                    <a:pt x="1971996" y="184667"/>
                    <a:pt x="1967544" y="186511"/>
                    <a:pt x="1962902" y="186511"/>
                  </a:cubicBezTo>
                  <a:lnTo>
                    <a:pt x="17503" y="186511"/>
                  </a:lnTo>
                  <a:cubicBezTo>
                    <a:pt x="12861" y="186511"/>
                    <a:pt x="8409" y="184667"/>
                    <a:pt x="5127" y="181384"/>
                  </a:cubicBezTo>
                  <a:cubicBezTo>
                    <a:pt x="1844" y="178102"/>
                    <a:pt x="0" y="173650"/>
                    <a:pt x="0" y="169008"/>
                  </a:cubicBezTo>
                  <a:lnTo>
                    <a:pt x="0" y="17503"/>
                  </a:lnTo>
                  <a:cubicBezTo>
                    <a:pt x="0" y="12861"/>
                    <a:pt x="1844" y="8409"/>
                    <a:pt x="5127" y="5127"/>
                  </a:cubicBezTo>
                  <a:cubicBezTo>
                    <a:pt x="8409" y="1844"/>
                    <a:pt x="12861" y="0"/>
                    <a:pt x="17503" y="0"/>
                  </a:cubicBezTo>
                  <a:close/>
                </a:path>
              </a:pathLst>
            </a:custGeom>
            <a:solidFill>
              <a:srgbClr val="B4B4B4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1980405" cy="2246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8644192" y="2822378"/>
            <a:ext cx="9172336" cy="58706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44"/>
              </a:lnSpc>
            </a:pPr>
            <a:r>
              <a:rPr lang="en-US" sz="3475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3 Intelligence Engine (Core Brain)</a:t>
            </a:r>
          </a:p>
          <a:p>
            <a:pPr algn="l">
              <a:lnSpc>
                <a:spcPts val="3544"/>
              </a:lnSpc>
            </a:pPr>
            <a:endParaRPr lang="en-US" sz="3475" b="1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marL="750347" lvl="1" indent="-375174" algn="l">
              <a:lnSpc>
                <a:spcPts val="3544"/>
              </a:lnSpc>
              <a:buFont typeface="Arial"/>
              <a:buChar char="•"/>
            </a:pPr>
            <a:r>
              <a:rPr lang="en-US" sz="347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Adaptive Quiz Generator</a:t>
            </a:r>
          </a:p>
          <a:p>
            <a:pPr marL="750347" lvl="1" indent="-375174" algn="l">
              <a:lnSpc>
                <a:spcPts val="3544"/>
              </a:lnSpc>
              <a:buFont typeface="Arial"/>
              <a:buChar char="•"/>
            </a:pPr>
            <a:r>
              <a:rPr lang="en-US" sz="347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Weakness Detection</a:t>
            </a:r>
          </a:p>
          <a:p>
            <a:pPr marL="750347" lvl="1" indent="-375174" algn="l">
              <a:lnSpc>
                <a:spcPts val="3544"/>
              </a:lnSpc>
              <a:buFont typeface="Arial"/>
              <a:buChar char="•"/>
            </a:pPr>
            <a:r>
              <a:rPr lang="en-US" sz="347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Forgetting Curve Planner</a:t>
            </a:r>
          </a:p>
          <a:p>
            <a:pPr marL="750347" lvl="1" indent="-375174" algn="l">
              <a:lnSpc>
                <a:spcPts val="3544"/>
              </a:lnSpc>
              <a:buFont typeface="Arial"/>
              <a:buChar char="•"/>
            </a:pPr>
            <a:r>
              <a:rPr lang="en-US" sz="347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LevelUp AI (XP &amp; Skill Tracking)</a:t>
            </a:r>
          </a:p>
          <a:p>
            <a:pPr algn="l">
              <a:lnSpc>
                <a:spcPts val="3544"/>
              </a:lnSpc>
            </a:pPr>
            <a:endParaRPr lang="en-US" sz="3475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3544"/>
              </a:lnSpc>
            </a:pPr>
            <a:r>
              <a:rPr lang="en-US" sz="3475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4 Data Layer</a:t>
            </a:r>
          </a:p>
          <a:p>
            <a:pPr algn="l">
              <a:lnSpc>
                <a:spcPts val="3544"/>
              </a:lnSpc>
            </a:pPr>
            <a:endParaRPr lang="en-US" sz="3475" b="1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marL="750347" lvl="1" indent="-375174" algn="l">
              <a:lnSpc>
                <a:spcPts val="3544"/>
              </a:lnSpc>
              <a:buFont typeface="Arial"/>
              <a:buChar char="•"/>
            </a:pPr>
            <a:r>
              <a:rPr lang="en-US" sz="347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Vector Database (Semantic Search)</a:t>
            </a:r>
          </a:p>
          <a:p>
            <a:pPr marL="750347" lvl="1" indent="-375174" algn="l">
              <a:lnSpc>
                <a:spcPts val="3544"/>
              </a:lnSpc>
              <a:buFont typeface="Arial"/>
              <a:buChar char="•"/>
            </a:pPr>
            <a:r>
              <a:rPr lang="en-US" sz="347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Performance Database</a:t>
            </a:r>
          </a:p>
          <a:p>
            <a:pPr marL="750347" lvl="1" indent="-375174" algn="l">
              <a:lnSpc>
                <a:spcPts val="3544"/>
              </a:lnSpc>
              <a:buFont typeface="Arial"/>
              <a:buChar char="•"/>
            </a:pPr>
            <a:r>
              <a:rPr lang="en-US" sz="347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Concept Embeddings</a:t>
            </a:r>
          </a:p>
          <a:p>
            <a:pPr marL="750347" lvl="1" indent="-375174" algn="l">
              <a:lnSpc>
                <a:spcPts val="3544"/>
              </a:lnSpc>
              <a:buFont typeface="Arial"/>
              <a:buChar char="•"/>
            </a:pPr>
            <a:r>
              <a:rPr lang="en-US" sz="347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Analytics Storage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3075660" y="8945756"/>
            <a:ext cx="10413871" cy="1199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 → Processing → Intelligence → Data → Personalized Feedback Loop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7C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31016" y="3377754"/>
            <a:ext cx="8712984" cy="3058526"/>
          </a:xfrm>
          <a:custGeom>
            <a:avLst/>
            <a:gdLst/>
            <a:ahLst/>
            <a:cxnLst/>
            <a:rect l="l" t="t" r="r" b="b"/>
            <a:pathLst>
              <a:path w="8712984" h="3058526">
                <a:moveTo>
                  <a:pt x="0" y="0"/>
                </a:moveTo>
                <a:lnTo>
                  <a:pt x="8712984" y="0"/>
                </a:lnTo>
                <a:lnTo>
                  <a:pt x="8712984" y="3058526"/>
                </a:lnTo>
                <a:lnTo>
                  <a:pt x="0" y="30585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24456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9144000" y="3762310"/>
            <a:ext cx="8433277" cy="19168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780"/>
              </a:lnSpc>
              <a:spcBef>
                <a:spcPct val="0"/>
              </a:spcBef>
            </a:pPr>
            <a:endParaRPr dirty="0"/>
          </a:p>
          <a:p>
            <a:pPr algn="ctr">
              <a:lnSpc>
                <a:spcPts val="3780"/>
              </a:lnSpc>
              <a:spcBef>
                <a:spcPct val="0"/>
              </a:spcBef>
            </a:pPr>
            <a:r>
              <a:rPr lang="en-US" sz="27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· </a:t>
            </a:r>
            <a:r>
              <a:rPr lang="en-US" sz="270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Github</a:t>
            </a:r>
            <a:r>
              <a:rPr lang="en-US" sz="27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: </a:t>
            </a:r>
          </a:p>
          <a:p>
            <a:pPr algn="ctr">
              <a:lnSpc>
                <a:spcPts val="3780"/>
              </a:lnSpc>
              <a:spcBef>
                <a:spcPct val="0"/>
              </a:spcBef>
            </a:pPr>
            <a:r>
              <a:rPr lang="en-US" sz="27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https://github.com/greddy9499/StudyGenie.git </a:t>
            </a:r>
          </a:p>
          <a:p>
            <a:pPr algn="ctr">
              <a:lnSpc>
                <a:spcPts val="3780"/>
              </a:lnSpc>
              <a:spcBef>
                <a:spcPct val="0"/>
              </a:spcBef>
            </a:pPr>
            <a:r>
              <a:rPr lang="en-US" sz="27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·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337</Words>
  <Application>Microsoft Office PowerPoint</Application>
  <PresentationFormat>Custom</PresentationFormat>
  <Paragraphs>77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Times New Roman</vt:lpstr>
      <vt:lpstr>Canva Sans</vt:lpstr>
      <vt:lpstr>Canva Sans Bold</vt:lpstr>
      <vt:lpstr>Times New Roman Bold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Learning is Broken Students forget 60–70% in 24 hours Passive studying → Low retention No concept-level tracking No adaptive revision system Tools generate notes, not understanding Gap: No intelligent learning feedback loop.</dc:title>
  <cp:lastModifiedBy>G Reddy</cp:lastModifiedBy>
  <cp:revision>2</cp:revision>
  <dcterms:created xsi:type="dcterms:W3CDTF">2006-08-16T00:00:00Z</dcterms:created>
  <dcterms:modified xsi:type="dcterms:W3CDTF">2026-02-12T07:28:27Z</dcterms:modified>
  <dc:identifier>DAHBCHypnLE</dc:identifier>
</cp:coreProperties>
</file>